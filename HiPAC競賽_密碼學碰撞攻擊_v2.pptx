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10"/>
  </p:notesMasterIdLst>
  <p:sldIdLst>
    <p:sldId id="263" r:id="rId3"/>
    <p:sldId id="273" r:id="rId4"/>
    <p:sldId id="271" r:id="rId5"/>
    <p:sldId id="258" r:id="rId6"/>
    <p:sldId id="261" r:id="rId7"/>
    <p:sldId id="275" r:id="rId8"/>
    <p:sldId id="26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18C39"/>
    <a:srgbClr val="5F7D75"/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0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216" y="3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1936BF-E6C9-456E-B84E-CBC4E154F21E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AEEFF-0C9F-47EF-8DA3-C8A4F5B94EF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6754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7767E75-B13F-86C7-3456-C2678CEE1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4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15603C3-28BC-4E01-FEB8-B90ABDCCC9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452" y="2020762"/>
            <a:ext cx="9587621" cy="2008030"/>
          </a:xfrm>
        </p:spPr>
        <p:txBody>
          <a:bodyPr anchor="t">
            <a:normAutofit/>
          </a:bodyPr>
          <a:lstStyle>
            <a:lvl1pPr algn="ctr">
              <a:defRPr sz="540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/>
              <a:t>Title of presentation</a:t>
            </a:r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586BBE-EE22-9EF8-1B47-23A19A7AA0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17275" y="4121889"/>
            <a:ext cx="6627138" cy="634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name here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1F49DE-41D8-F6D7-6425-CD719542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4464" y="5260833"/>
            <a:ext cx="1122909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74AE4AD5-2F1E-4D0F-90E9-0F6964F03ACC}" type="datetime1">
              <a:rPr lang="zh-TW" altLang="en-US" smtClean="0"/>
              <a:pPr/>
              <a:t>2026/8/6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2464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設計, 圖解 的圖片&#10;&#10;自動產生的描述">
            <a:extLst>
              <a:ext uri="{FF2B5EF4-FFF2-40B4-BE49-F238E27FC236}">
                <a16:creationId xmlns:a16="http://schemas.microsoft.com/office/drawing/2014/main" id="{4E7BCAD2-EE25-2F6E-2689-E7A371565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48009" cy="6858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5472" y="6492875"/>
            <a:ext cx="766528" cy="365125"/>
          </a:xfrm>
        </p:spPr>
        <p:txBody>
          <a:bodyPr/>
          <a:lstStyle>
            <a:lvl1pPr>
              <a:defRPr b="1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FDD330D-C6DA-05B0-D3C6-A1852BADE7C7}"/>
              </a:ext>
            </a:extLst>
          </p:cNvPr>
          <p:cNvSpPr txBox="1"/>
          <p:nvPr userDrawn="1"/>
        </p:nvSpPr>
        <p:spPr>
          <a:xfrm>
            <a:off x="780004" y="1122630"/>
            <a:ext cx="14918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>
                <a:solidFill>
                  <a:schemeClr val="bg1"/>
                </a:solidFill>
              </a:rPr>
              <a:t>Table of</a:t>
            </a:r>
          </a:p>
          <a:p>
            <a:r>
              <a:rPr lang="en-US" altLang="zh-TW" sz="2800">
                <a:solidFill>
                  <a:schemeClr val="bg1"/>
                </a:solidFill>
              </a:rPr>
              <a:t>Contents</a:t>
            </a:r>
            <a:endParaRPr lang="zh-TW" altLang="en-US" sz="2800">
              <a:solidFill>
                <a:schemeClr val="bg1"/>
              </a:solidFill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12A112-61F6-EE5F-D883-FE3DBA8389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4575" y="1339913"/>
            <a:ext cx="7243763" cy="4128505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</p:txBody>
      </p:sp>
      <p:pic>
        <p:nvPicPr>
          <p:cNvPr id="8" name="圖片 7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39612CEC-2C73-D86C-B54B-746F989418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010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pos="77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EF2FCE9-264C-1B50-4F49-3D6F541100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400" cy="6858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1289" y="6492875"/>
            <a:ext cx="670711" cy="365125"/>
          </a:xfrm>
          <a:noFill/>
        </p:spPr>
        <p:txBody>
          <a:bodyPr/>
          <a:lstStyle>
            <a:lvl1pPr>
              <a:defRPr b="1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EC90C14B-F2F6-1815-048B-4324D9051E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3577" y="348511"/>
            <a:ext cx="9696258" cy="642938"/>
          </a:xfrm>
          <a:ln>
            <a:noFill/>
          </a:ln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320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8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altLang="zh-TW"/>
              <a:t>Topic here</a:t>
            </a:r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5C18BA-F609-B184-C1C6-6B5910852AA6}"/>
              </a:ext>
            </a:extLst>
          </p:cNvPr>
          <p:cNvSpPr/>
          <p:nvPr userDrawn="1"/>
        </p:nvSpPr>
        <p:spPr>
          <a:xfrm>
            <a:off x="1" y="549275"/>
            <a:ext cx="851026" cy="241410"/>
          </a:xfrm>
          <a:prstGeom prst="rect">
            <a:avLst/>
          </a:prstGeom>
          <a:solidFill>
            <a:srgbClr val="5F7D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8F255D6E-48A0-943E-4F96-48FDD70980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1D15E66C-6EAA-A5D8-F8FF-C15C2E68E8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3577" y="1192213"/>
            <a:ext cx="9696258" cy="48736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854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 userDrawn="1">
          <p15:clr>
            <a:srgbClr val="FBAE40"/>
          </p15:clr>
        </p15:guide>
        <p15:guide id="2" pos="77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圓形, 螢幕擷取畫面, 圖表, 設計 的圖片&#10;&#10;自動產生的描述">
            <a:extLst>
              <a:ext uri="{FF2B5EF4-FFF2-40B4-BE49-F238E27FC236}">
                <a16:creationId xmlns:a16="http://schemas.microsoft.com/office/drawing/2014/main" id="{BBF6995F-2C7C-D20A-64A0-13C95A9702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976" y="4450279"/>
            <a:ext cx="2810024" cy="240772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4238" y="6492875"/>
            <a:ext cx="467762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文字版面配置區 7">
            <a:extLst>
              <a:ext uri="{FF2B5EF4-FFF2-40B4-BE49-F238E27FC236}">
                <a16:creationId xmlns:a16="http://schemas.microsoft.com/office/drawing/2014/main" id="{E15F0B9B-60BE-DA11-3B0B-A0B9499C34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3576" y="348511"/>
            <a:ext cx="9696259" cy="642938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320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8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altLang="zh-TW"/>
              <a:t>Topic here</a:t>
            </a:r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8E90B8-54A5-B281-8616-4E90EDC3A937}"/>
              </a:ext>
            </a:extLst>
          </p:cNvPr>
          <p:cNvSpPr/>
          <p:nvPr userDrawn="1"/>
        </p:nvSpPr>
        <p:spPr>
          <a:xfrm>
            <a:off x="1" y="549275"/>
            <a:ext cx="851026" cy="241410"/>
          </a:xfrm>
          <a:prstGeom prst="rect">
            <a:avLst/>
          </a:prstGeom>
          <a:solidFill>
            <a:srgbClr val="5F7D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8BE2CA99-8D6C-CC6C-C30D-1F9A099ADB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BD5A9513-E823-E279-4BD3-746036FACA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3576" y="1192213"/>
            <a:ext cx="9695712" cy="5300661"/>
          </a:xfrm>
        </p:spPr>
        <p:txBody>
          <a:bodyPr/>
          <a:lstStyle>
            <a:lvl1pPr marL="0" indent="0">
              <a:buFontTx/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  <a:p>
            <a:pPr lvl="4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44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1288" y="6492875"/>
            <a:ext cx="670711" cy="365125"/>
          </a:xfrm>
        </p:spPr>
        <p:txBody>
          <a:bodyPr/>
          <a:lstStyle>
            <a:lvl1pPr>
              <a:defRPr b="1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文字版面配置區 7">
            <a:extLst>
              <a:ext uri="{FF2B5EF4-FFF2-40B4-BE49-F238E27FC236}">
                <a16:creationId xmlns:a16="http://schemas.microsoft.com/office/drawing/2014/main" id="{932A2C9D-D9DA-0FD7-6FB9-C3B010EDAC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4521" y="348511"/>
            <a:ext cx="9678155" cy="642938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320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8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altLang="zh-TW"/>
              <a:t>Topic here</a:t>
            </a:r>
            <a:endParaRPr lang="zh-TW" altLang="en-US"/>
          </a:p>
        </p:txBody>
      </p:sp>
      <p:pic>
        <p:nvPicPr>
          <p:cNvPr id="5" name="圖片 4" descr="一張含有 螢幕擷取畫面, 黑色, 藝術 的圖片&#10;&#10;自動產生的描述">
            <a:extLst>
              <a:ext uri="{FF2B5EF4-FFF2-40B4-BE49-F238E27FC236}">
                <a16:creationId xmlns:a16="http://schemas.microsoft.com/office/drawing/2014/main" id="{17E494F6-E531-E584-3138-40D612794F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62149" cy="6858000"/>
          </a:xfrm>
          <a:prstGeom prst="rect">
            <a:avLst/>
          </a:prstGeom>
        </p:spPr>
      </p:pic>
      <p:pic>
        <p:nvPicPr>
          <p:cNvPr id="6" name="圖片 5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CD1C51ED-27CB-1B2C-62D4-7AB71660FC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39E47EC0-B159-47AA-549A-08B6A9C68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4900" y="1185863"/>
            <a:ext cx="9677400" cy="4953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584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68400C9D-E715-1410-8D0F-F6E457A34A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398" cy="685799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9506" y="6492874"/>
            <a:ext cx="422494" cy="365125"/>
          </a:xfrm>
          <a:solidFill>
            <a:schemeClr val="bg1"/>
          </a:solidFill>
          <a:ln>
            <a:noFill/>
          </a:ln>
        </p:spPr>
        <p:txBody>
          <a:bodyPr/>
          <a:lstStyle>
            <a:lvl1pPr>
              <a:defRPr b="1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文字版面配置區 7">
            <a:extLst>
              <a:ext uri="{FF2B5EF4-FFF2-40B4-BE49-F238E27FC236}">
                <a16:creationId xmlns:a16="http://schemas.microsoft.com/office/drawing/2014/main" id="{932A2C9D-D9DA-0FD7-6FB9-C3B010EDAC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5469" y="348511"/>
            <a:ext cx="9660048" cy="642938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320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8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altLang="zh-TW"/>
              <a:t>Topic here</a:t>
            </a:r>
            <a:endParaRPr lang="zh-TW" altLang="en-US"/>
          </a:p>
        </p:txBody>
      </p:sp>
      <p:pic>
        <p:nvPicPr>
          <p:cNvPr id="3" name="圖片 2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EDB905C1-AD1B-8D41-2605-E6CEBC4A9A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746D9073-899A-56C7-FC8D-0B0E3F45EB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4428" y="1195056"/>
            <a:ext cx="9659938" cy="4906994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/>
            </a:lvl1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09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5472" y="6492875"/>
            <a:ext cx="670711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9D47050-A183-79BB-F2BF-A9FDBDC87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400" cy="6858000"/>
          </a:xfrm>
          <a:prstGeom prst="rect">
            <a:avLst/>
          </a:prstGeom>
        </p:spPr>
      </p:pic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1C35DCDC-3116-D3FB-8FBA-2F75A405DA51}"/>
              </a:ext>
            </a:extLst>
          </p:cNvPr>
          <p:cNvSpPr txBox="1">
            <a:spLocks/>
          </p:cNvSpPr>
          <p:nvPr userDrawn="1"/>
        </p:nvSpPr>
        <p:spPr>
          <a:xfrm>
            <a:off x="11521289" y="6492875"/>
            <a:ext cx="670711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b="1" kern="1200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9B812E10-A3C1-280D-C5C6-D94ABE2CD5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0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5472" y="6492875"/>
            <a:ext cx="670711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3420FCF-E99B-BFEA-BD68-2CEDAB2894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4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7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C7767E75-B13F-86C7-3456-C2678CEE19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4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15603C3-28BC-4E01-FEB8-B90ABDCCC9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23452" y="2020762"/>
            <a:ext cx="9587621" cy="2008030"/>
          </a:xfrm>
        </p:spPr>
        <p:txBody>
          <a:bodyPr anchor="t">
            <a:normAutofit/>
          </a:bodyPr>
          <a:lstStyle>
            <a:lvl1pPr algn="ctr">
              <a:defRPr sz="5400">
                <a:solidFill>
                  <a:schemeClr val="bg1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defRPr>
            </a:lvl1pPr>
          </a:lstStyle>
          <a:p>
            <a:r>
              <a:rPr lang="en-US" altLang="zh-TW"/>
              <a:t>Title of presentation</a:t>
            </a:r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9586BBE-EE22-9EF8-1B47-23A19A7AA00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17275" y="4121889"/>
            <a:ext cx="6627138" cy="63498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+mn-lt"/>
                <a:ea typeface="微軟正黑體" panose="020B0604030504040204" pitchFamily="34" charset="-12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TW"/>
              <a:t>name here</a:t>
            </a:r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1F49DE-41D8-F6D7-6425-CD719542E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84464" y="5260833"/>
            <a:ext cx="1122909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74AE4AD5-2F1E-4D0F-90E9-0F6964F03ACC}" type="datetime1">
              <a:rPr lang="zh-TW" altLang="en-US" smtClean="0"/>
              <a:pPr/>
              <a:t>2026/8/6</a:t>
            </a:fld>
            <a:endParaRPr lang="zh-TW" altLang="en-US"/>
          </a:p>
        </p:txBody>
      </p:sp>
      <p:grpSp>
        <p:nvGrpSpPr>
          <p:cNvPr id="9" name="群組 8">
            <a:extLst>
              <a:ext uri="{FF2B5EF4-FFF2-40B4-BE49-F238E27FC236}">
                <a16:creationId xmlns:a16="http://schemas.microsoft.com/office/drawing/2014/main" id="{1E8D69C1-0107-D432-1294-A27F5D56933F}"/>
              </a:ext>
            </a:extLst>
          </p:cNvPr>
          <p:cNvGrpSpPr/>
          <p:nvPr userDrawn="1"/>
        </p:nvGrpSpPr>
        <p:grpSpPr>
          <a:xfrm>
            <a:off x="262350" y="235667"/>
            <a:ext cx="3855009" cy="774714"/>
            <a:chOff x="262350" y="235667"/>
            <a:chExt cx="3855009" cy="774714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6ABD32B-DB9A-B1B6-D12C-400E10576BF2}"/>
                </a:ext>
              </a:extLst>
            </p:cNvPr>
            <p:cNvSpPr/>
            <p:nvPr userDrawn="1"/>
          </p:nvSpPr>
          <p:spPr>
            <a:xfrm>
              <a:off x="262350" y="235667"/>
              <a:ext cx="3855009" cy="774714"/>
            </a:xfrm>
            <a:prstGeom prst="rect">
              <a:avLst/>
            </a:prstGeom>
            <a:solidFill>
              <a:srgbClr val="EBECE7"/>
            </a:solidFill>
            <a:ln>
              <a:solidFill>
                <a:srgbClr val="EBECE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6" name="圖片 5" descr="一張含有 文字, 字型, 螢幕擷取畫面, 圖形 的圖片&#10;&#10;AI 產生的內容可能不正確。">
              <a:extLst>
                <a:ext uri="{FF2B5EF4-FFF2-40B4-BE49-F238E27FC236}">
                  <a16:creationId xmlns:a16="http://schemas.microsoft.com/office/drawing/2014/main" id="{427C0ACE-1A2A-BFE0-92A5-88AA6538C5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9710" y="305520"/>
              <a:ext cx="3312070" cy="6472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49334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設計, 圖解 的圖片&#10;&#10;自動產生的描述">
            <a:extLst>
              <a:ext uri="{FF2B5EF4-FFF2-40B4-BE49-F238E27FC236}">
                <a16:creationId xmlns:a16="http://schemas.microsoft.com/office/drawing/2014/main" id="{4E7BCAD2-EE25-2F6E-2689-E7A3715658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48009" cy="6858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5472" y="6492875"/>
            <a:ext cx="766528" cy="365125"/>
          </a:xfrm>
        </p:spPr>
        <p:txBody>
          <a:bodyPr/>
          <a:lstStyle>
            <a:lvl1pPr>
              <a:defRPr b="1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FDD330D-C6DA-05B0-D3C6-A1852BADE7C7}"/>
              </a:ext>
            </a:extLst>
          </p:cNvPr>
          <p:cNvSpPr txBox="1"/>
          <p:nvPr userDrawn="1"/>
        </p:nvSpPr>
        <p:spPr>
          <a:xfrm>
            <a:off x="780004" y="1122630"/>
            <a:ext cx="149181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>
                <a:solidFill>
                  <a:schemeClr val="bg1"/>
                </a:solidFill>
              </a:rPr>
              <a:t>Table of</a:t>
            </a:r>
          </a:p>
          <a:p>
            <a:r>
              <a:rPr lang="en-US" altLang="zh-TW" sz="2800">
                <a:solidFill>
                  <a:schemeClr val="bg1"/>
                </a:solidFill>
              </a:rPr>
              <a:t>Contents</a:t>
            </a:r>
            <a:endParaRPr lang="zh-TW" altLang="en-US" sz="2800">
              <a:solidFill>
                <a:schemeClr val="bg1"/>
              </a:solidFill>
            </a:endParaRP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912A112-61F6-EE5F-D883-FE3DBA8389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4575" y="1339913"/>
            <a:ext cx="7243763" cy="4128505"/>
          </a:xfrm>
        </p:spPr>
        <p:txBody>
          <a:bodyPr>
            <a:normAutofit/>
          </a:bodyPr>
          <a:lstStyle>
            <a:lvl1pPr>
              <a:defRPr sz="32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</p:txBody>
      </p:sp>
      <p:pic>
        <p:nvPicPr>
          <p:cNvPr id="8" name="圖片 7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39612CEC-2C73-D86C-B54B-746F989418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249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77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EF2FCE9-264C-1B50-4F49-3D6F541100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400" cy="68580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1289" y="6492875"/>
            <a:ext cx="670711" cy="365125"/>
          </a:xfrm>
          <a:noFill/>
        </p:spPr>
        <p:txBody>
          <a:bodyPr/>
          <a:lstStyle>
            <a:lvl1pPr>
              <a:defRPr b="1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EC90C14B-F2F6-1815-048B-4324D9051E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3577" y="348511"/>
            <a:ext cx="9696258" cy="642938"/>
          </a:xfrm>
          <a:ln>
            <a:noFill/>
          </a:ln>
        </p:spPr>
        <p:txBody>
          <a:bodyPr anchor="ctr">
            <a:normAutofit/>
          </a:bodyPr>
          <a:lstStyle>
            <a:lvl1pPr marL="0" indent="0" algn="l">
              <a:buFontTx/>
              <a:buNone/>
              <a:defRPr sz="320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8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altLang="zh-TW"/>
              <a:t>Topic here</a:t>
            </a:r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E5C18BA-F609-B184-C1C6-6B5910852AA6}"/>
              </a:ext>
            </a:extLst>
          </p:cNvPr>
          <p:cNvSpPr/>
          <p:nvPr userDrawn="1"/>
        </p:nvSpPr>
        <p:spPr>
          <a:xfrm>
            <a:off x="1" y="549275"/>
            <a:ext cx="851026" cy="241410"/>
          </a:xfrm>
          <a:prstGeom prst="rect">
            <a:avLst/>
          </a:prstGeom>
          <a:solidFill>
            <a:srgbClr val="5F7D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" name="圖片 1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8F255D6E-48A0-943E-4F96-48FDD70980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1D15E66C-6EAA-A5D8-F8FF-C15C2E68E84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3577" y="1192213"/>
            <a:ext cx="9696258" cy="4873625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311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6">
          <p15:clr>
            <a:srgbClr val="FBAE40"/>
          </p15:clr>
        </p15:guide>
        <p15:guide id="2" pos="77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圓形, 螢幕擷取畫面, 圖表, 設計 的圖片&#10;&#10;自動產生的描述">
            <a:extLst>
              <a:ext uri="{FF2B5EF4-FFF2-40B4-BE49-F238E27FC236}">
                <a16:creationId xmlns:a16="http://schemas.microsoft.com/office/drawing/2014/main" id="{BBF6995F-2C7C-D20A-64A0-13C95A9702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1976" y="4450279"/>
            <a:ext cx="2810024" cy="2407721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4238" y="6492875"/>
            <a:ext cx="467762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文字版面配置區 7">
            <a:extLst>
              <a:ext uri="{FF2B5EF4-FFF2-40B4-BE49-F238E27FC236}">
                <a16:creationId xmlns:a16="http://schemas.microsoft.com/office/drawing/2014/main" id="{E15F0B9B-60BE-DA11-3B0B-A0B9499C34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3576" y="348511"/>
            <a:ext cx="9696259" cy="642938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320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8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altLang="zh-TW"/>
              <a:t>Topic here</a:t>
            </a:r>
            <a:endParaRPr lang="zh-TW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8E90B8-54A5-B281-8616-4E90EDC3A937}"/>
              </a:ext>
            </a:extLst>
          </p:cNvPr>
          <p:cNvSpPr/>
          <p:nvPr userDrawn="1"/>
        </p:nvSpPr>
        <p:spPr>
          <a:xfrm>
            <a:off x="1" y="549275"/>
            <a:ext cx="851026" cy="241410"/>
          </a:xfrm>
          <a:prstGeom prst="rect">
            <a:avLst/>
          </a:prstGeom>
          <a:solidFill>
            <a:srgbClr val="5F7D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8" name="圖片 7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8BE2CA99-8D6C-CC6C-C30D-1F9A099ADB1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BD5A9513-E823-E279-4BD3-746036FACA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13576" y="1192213"/>
            <a:ext cx="9695712" cy="5300661"/>
          </a:xfrm>
        </p:spPr>
        <p:txBody>
          <a:bodyPr/>
          <a:lstStyle>
            <a:lvl1pPr marL="0" indent="0">
              <a:buFontTx/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  <a:p>
            <a:pPr lvl="4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7962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1288" y="6492875"/>
            <a:ext cx="670711" cy="365125"/>
          </a:xfrm>
        </p:spPr>
        <p:txBody>
          <a:bodyPr/>
          <a:lstStyle>
            <a:lvl1pPr>
              <a:defRPr b="1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文字版面配置區 7">
            <a:extLst>
              <a:ext uri="{FF2B5EF4-FFF2-40B4-BE49-F238E27FC236}">
                <a16:creationId xmlns:a16="http://schemas.microsoft.com/office/drawing/2014/main" id="{932A2C9D-D9DA-0FD7-6FB9-C3B010EDAC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4521" y="348511"/>
            <a:ext cx="9678155" cy="642938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320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8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altLang="zh-TW"/>
              <a:t>Topic here</a:t>
            </a:r>
            <a:endParaRPr lang="zh-TW" altLang="en-US"/>
          </a:p>
        </p:txBody>
      </p:sp>
      <p:pic>
        <p:nvPicPr>
          <p:cNvPr id="5" name="圖片 4" descr="一張含有 螢幕擷取畫面, 黑色, 藝術 的圖片&#10;&#10;自動產生的描述">
            <a:extLst>
              <a:ext uri="{FF2B5EF4-FFF2-40B4-BE49-F238E27FC236}">
                <a16:creationId xmlns:a16="http://schemas.microsoft.com/office/drawing/2014/main" id="{17E494F6-E531-E584-3138-40D612794F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362149" cy="6858000"/>
          </a:xfrm>
          <a:prstGeom prst="rect">
            <a:avLst/>
          </a:prstGeom>
        </p:spPr>
      </p:pic>
      <p:pic>
        <p:nvPicPr>
          <p:cNvPr id="6" name="圖片 5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CD1C51ED-27CB-1B2C-62D4-7AB71660FC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39E47EC0-B159-47AA-549A-08B6A9C686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4900" y="1185863"/>
            <a:ext cx="9677400" cy="4953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40375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>
            <a:extLst>
              <a:ext uri="{FF2B5EF4-FFF2-40B4-BE49-F238E27FC236}">
                <a16:creationId xmlns:a16="http://schemas.microsoft.com/office/drawing/2014/main" id="{68400C9D-E715-1410-8D0F-F6E457A34A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398" cy="6857999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9506" y="6492874"/>
            <a:ext cx="422494" cy="365125"/>
          </a:xfrm>
          <a:solidFill>
            <a:schemeClr val="bg1"/>
          </a:solidFill>
          <a:ln>
            <a:noFill/>
          </a:ln>
        </p:spPr>
        <p:txBody>
          <a:bodyPr/>
          <a:lstStyle>
            <a:lvl1pPr>
              <a:defRPr b="1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" name="文字版面配置區 7">
            <a:extLst>
              <a:ext uri="{FF2B5EF4-FFF2-40B4-BE49-F238E27FC236}">
                <a16:creationId xmlns:a16="http://schemas.microsoft.com/office/drawing/2014/main" id="{932A2C9D-D9DA-0FD7-6FB9-C3B010EDAC2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5469" y="348511"/>
            <a:ext cx="9660048" cy="642938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3200">
                <a:latin typeface="+mn-lt"/>
                <a:ea typeface="微軟正黑體" panose="020B0604030504040204" pitchFamily="34" charset="-120"/>
              </a:defRPr>
            </a:lvl1pPr>
            <a:lvl2pPr marL="4572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2pPr>
            <a:lvl3pPr marL="9144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3pPr>
            <a:lvl4pPr marL="13716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4pPr>
            <a:lvl5pPr marL="1828800" indent="0">
              <a:buFontTx/>
              <a:buNone/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5pPr>
          </a:lstStyle>
          <a:p>
            <a:pPr lvl="0"/>
            <a:r>
              <a:rPr lang="en-US" altLang="zh-TW"/>
              <a:t>Topic here</a:t>
            </a:r>
            <a:endParaRPr lang="zh-TW" altLang="en-US"/>
          </a:p>
        </p:txBody>
      </p:sp>
      <p:pic>
        <p:nvPicPr>
          <p:cNvPr id="3" name="圖片 2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EDB905C1-AD1B-8D41-2605-E6CEBC4A9A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746D9073-899A-56C7-FC8D-0B0E3F45EB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104428" y="1195056"/>
            <a:ext cx="9659938" cy="4906994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400"/>
            </a:lvl1pPr>
          </a:lstStyle>
          <a:p>
            <a:pPr lvl="0"/>
            <a:r>
              <a:rPr lang="en-US" altLang="zh-TW"/>
              <a:t>Text here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4658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5472" y="6492875"/>
            <a:ext cx="670711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9D47050-A183-79BB-F2BF-A9FDBDC876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400" cy="6858000"/>
          </a:xfrm>
          <a:prstGeom prst="rect">
            <a:avLst/>
          </a:prstGeom>
        </p:spPr>
      </p:pic>
      <p:sp>
        <p:nvSpPr>
          <p:cNvPr id="5" name="投影片編號版面配置區 3">
            <a:extLst>
              <a:ext uri="{FF2B5EF4-FFF2-40B4-BE49-F238E27FC236}">
                <a16:creationId xmlns:a16="http://schemas.microsoft.com/office/drawing/2014/main" id="{1C35DCDC-3116-D3FB-8FBA-2F75A405DA51}"/>
              </a:ext>
            </a:extLst>
          </p:cNvPr>
          <p:cNvSpPr txBox="1">
            <a:spLocks/>
          </p:cNvSpPr>
          <p:nvPr userDrawn="1"/>
        </p:nvSpPr>
        <p:spPr>
          <a:xfrm>
            <a:off x="11521289" y="6492875"/>
            <a:ext cx="670711" cy="365125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200" b="1" kern="1200">
                <a:solidFill>
                  <a:srgbClr val="5F7D75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 descr="一張含有 圖形, 標誌, 平面設計, 字型 的圖片&#10;&#10;自動產生的描述">
            <a:extLst>
              <a:ext uri="{FF2B5EF4-FFF2-40B4-BE49-F238E27FC236}">
                <a16:creationId xmlns:a16="http://schemas.microsoft.com/office/drawing/2014/main" id="{9B812E10-A3C1-280D-C5C6-D94ABE2CD5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7048" y="365125"/>
            <a:ext cx="754857" cy="53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16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EC639F-B3E0-C30D-E638-18262255D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5472" y="6492875"/>
            <a:ext cx="670711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B8D2A508-B83B-4628-944B-45143E9CC5C8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3420FCF-E99B-BFEA-BD68-2CEDAB2894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00" y="0"/>
            <a:ext cx="121854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37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B762DD6-880F-4036-AB4D-4A6A367B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1DE48A-69FA-52C6-5C51-510F582ED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7E55D1-B571-486F-5F37-39C3728E1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AB4EE-132F-4619-85B6-B9D454DE8480}" type="datetime1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7F473B-C88D-DC91-E986-9D90B19A8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744DD6-26F6-F998-34B8-076C0EB58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2A508-B83B-4628-944B-45143E9CC5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3726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60" r:id="rId3"/>
    <p:sldLayoutId id="2147483656" r:id="rId4"/>
    <p:sldLayoutId id="2147483657" r:id="rId5"/>
    <p:sldLayoutId id="2147483661" r:id="rId6"/>
    <p:sldLayoutId id="2147483658" r:id="rId7"/>
    <p:sldLayoutId id="2147483659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B762DD6-880F-4036-AB4D-4A6A367B1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1DE48A-69FA-52C6-5C51-510F582ED6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7E55D1-B571-486F-5F37-39C3728E1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DAB4EE-132F-4619-85B6-B9D454DE8480}" type="datetime1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7F473B-C88D-DC91-E986-9D90B19A8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9744DD6-26F6-F998-34B8-076C0EB582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2A508-B83B-4628-944B-45143E9CC5C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4564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521212BD-F37C-5953-3826-458B67B5E7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b="1" i="1" dirty="0">
                <a:solidFill>
                  <a:srgbClr val="FFC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2026HiPAC</a:t>
            </a:r>
            <a:r>
              <a:rPr lang="en-US" altLang="zh-TW" b="1" dirty="0">
                <a:solidFill>
                  <a:srgbClr val="FFC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br>
              <a:rPr lang="en-US" altLang="zh-TW" b="1" dirty="0">
                <a:solidFill>
                  <a:srgbClr val="FFC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br>
              <a:rPr lang="en-US" altLang="zh-TW" b="1" dirty="0">
                <a:solidFill>
                  <a:schemeClr val="accent4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en-US" altLang="zh-TW" b="1" dirty="0">
                <a:solidFill>
                  <a:schemeClr val="bg1">
                    <a:lumMod val="9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〔</a:t>
            </a:r>
            <a:r>
              <a:rPr lang="zh-TW" altLang="en-US" b="1" dirty="0">
                <a:solidFill>
                  <a:schemeClr val="bg1">
                    <a:lumMod val="9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試題說明 </a:t>
            </a:r>
            <a:r>
              <a:rPr lang="en-US" altLang="zh-TW" b="1" dirty="0">
                <a:solidFill>
                  <a:schemeClr val="bg1">
                    <a:lumMod val="9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〕</a:t>
            </a:r>
            <a:endParaRPr lang="zh-TW" altLang="en-US" dirty="0"/>
          </a:p>
        </p:txBody>
      </p:sp>
      <p:sp>
        <p:nvSpPr>
          <p:cNvPr id="7" name="副標題 6">
            <a:extLst>
              <a:ext uri="{FF2B5EF4-FFF2-40B4-BE49-F238E27FC236}">
                <a16:creationId xmlns:a16="http://schemas.microsoft.com/office/drawing/2014/main" id="{B051762D-BEA1-EA7B-4908-868C7A5EC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03693" y="4341345"/>
            <a:ext cx="6627138" cy="634984"/>
          </a:xfrm>
        </p:spPr>
        <p:txBody>
          <a:bodyPr/>
          <a:lstStyle/>
          <a:p>
            <a:r>
              <a:rPr dirty="0"/>
              <a:t>隱藏題：SHA-256 </a:t>
            </a:r>
            <a:r>
              <a:rPr dirty="0" err="1"/>
              <a:t>碰撞搜尋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555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9660EF6-B609-BB55-7831-F395007322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13576" y="682975"/>
            <a:ext cx="9695712" cy="1188720"/>
          </a:xfrm>
        </p:spPr>
        <p:txBody>
          <a:bodyPr/>
          <a:lstStyle/>
          <a:p>
            <a:pPr marL="342900" indent="-342900">
              <a:buFont typeface="Wingdings" pitchFamily="2" charset="2"/>
              <a:buChar char="n"/>
            </a:pPr>
            <a:r>
              <a:rPr kumimoji="1" lang="zh-TW" altLang="en-US" b="1" dirty="0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碰撞攻擊如何破壞電子簽章</a:t>
            </a:r>
          </a:p>
          <a:p>
            <a:pPr lvl="1" indent="0">
              <a:lnSpc>
                <a:spcPct val="150000"/>
              </a:lnSpc>
              <a:spcBef>
                <a:spcPts val="0"/>
              </a:spcBef>
              <a:buNone/>
              <a:defRPr/>
            </a:pPr>
            <a:r>
              <a:rPr lang="en-US" altLang="zh-TW" b="0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攻擊者備妥兩張雜湊相同的轉帳單</a:t>
            </a:r>
            <a:endParaRPr lang="en-US" altLang="zh-TW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34440" y="2331720"/>
            <a:ext cx="3931920" cy="914400"/>
          </a:xfrm>
          <a:prstGeom prst="roundRect">
            <a:avLst/>
          </a:prstGeom>
          <a:solidFill>
            <a:srgbClr val="EBECE7"/>
          </a:solidFill>
          <a:ln w="19050">
            <a:solidFill>
              <a:srgbClr val="5F7D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轉帳給小華   $100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291839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① 拿給你簽名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95160" y="2331720"/>
            <a:ext cx="3931920" cy="914400"/>
          </a:xfrm>
          <a:prstGeom prst="round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轉帳給小華   $9,999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95160" y="3291839"/>
            <a:ext cx="393192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>
                <a:solidFill>
                  <a:srgbClr val="B18C3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② 攻擊者實際拿去用</a:t>
            </a:r>
          </a:p>
        </p:txBody>
      </p:sp>
      <p:sp>
        <p:nvSpPr>
          <p:cNvPr id="9" name="Down Arrow 8"/>
          <p:cNvSpPr/>
          <p:nvPr/>
        </p:nvSpPr>
        <p:spPr>
          <a:xfrm>
            <a:off x="2999232" y="3630168"/>
            <a:ext cx="402336" cy="457200"/>
          </a:xfrm>
          <a:prstGeom prst="downArrow">
            <a:avLst/>
          </a:prstGeom>
          <a:solidFill>
            <a:srgbClr val="5F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0" name="Down Arrow 9"/>
          <p:cNvSpPr/>
          <p:nvPr/>
        </p:nvSpPr>
        <p:spPr>
          <a:xfrm>
            <a:off x="8759952" y="3630168"/>
            <a:ext cx="402336" cy="457200"/>
          </a:xfrm>
          <a:prstGeom prst="downArrow">
            <a:avLst/>
          </a:prstGeom>
          <a:solidFill>
            <a:srgbClr val="B18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29000" y="3675887"/>
            <a:ext cx="11887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SHA-256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3675887"/>
            <a:ext cx="118872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SHA-256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34440" y="4197096"/>
            <a:ext cx="3931920" cy="658368"/>
          </a:xfrm>
          <a:prstGeom prst="roundRect">
            <a:avLst/>
          </a:prstGeom>
          <a:solidFill>
            <a:srgbClr val="5F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4f2a9c81…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197096"/>
            <a:ext cx="3931920" cy="658368"/>
          </a:xfrm>
          <a:prstGeom prst="roundRect">
            <a:avLst/>
          </a:prstGeom>
          <a:solidFill>
            <a:srgbClr val="5F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4f2a9c81…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4197096"/>
            <a:ext cx="1463040" cy="658368"/>
          </a:xfrm>
          <a:prstGeom prst="roundRect">
            <a:avLst/>
          </a:prstGeom>
          <a:solidFill>
            <a:srgbClr val="B18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完全相同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87468" y="5574347"/>
            <a:ext cx="9017064" cy="658368"/>
          </a:xfrm>
          <a:prstGeom prst="roundRect">
            <a:avLst/>
          </a:prstGeom>
          <a:solidFill>
            <a:srgbClr val="006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0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③ </a:t>
            </a:r>
            <a:r>
              <a:rPr sz="2000" dirty="0" err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簽章直接搬過去，驗證照樣通過</a:t>
            </a:r>
            <a:r>
              <a:rPr sz="20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→ </a:t>
            </a:r>
            <a:r>
              <a:rPr sz="2000" dirty="0" err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你簽的是</a:t>
            </a:r>
            <a:r>
              <a:rPr sz="2000"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$100，付出去的是 $9,999</a:t>
            </a:r>
          </a:p>
        </p:txBody>
      </p:sp>
    </p:spTree>
    <p:extLst>
      <p:ext uri="{BB962C8B-B14F-4D97-AF65-F5344CB8AC3E}">
        <p14:creationId xmlns:p14="http://schemas.microsoft.com/office/powerpoint/2010/main" val="3399467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9660EF6-B609-BB55-7831-F395007322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1464" y="635508"/>
            <a:ext cx="9695712" cy="1188720"/>
          </a:xfrm>
        </p:spPr>
        <p:txBody>
          <a:bodyPr/>
          <a:lstStyle/>
          <a:p>
            <a:pPr marL="342900" indent="-342900">
              <a:buFont typeface="Wingdings" pitchFamily="2" charset="2"/>
              <a:buChar char="n"/>
            </a:pPr>
            <a:r>
              <a:rPr kumimoji="1" lang="zh-TW" altLang="en-US" b="1" dirty="0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題目說明</a:t>
            </a:r>
            <a:endParaRPr kumimoji="1" lang="en-US" altLang="zh-TW" b="1" dirty="0">
              <a:solidFill>
                <a:srgbClr val="006E9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34440" y="1956816"/>
            <a:ext cx="31089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dirty="0" err="1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固定</a:t>
            </a:r>
            <a:r>
              <a:rPr b="1" dirty="0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prefix（</a:t>
            </a:r>
            <a:r>
              <a:rPr lang="zh-TW" altLang="en-US" b="1" dirty="0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範例</a:t>
            </a:r>
            <a:r>
              <a:rPr b="1" dirty="0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956816"/>
            <a:ext cx="21945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>
                <a:solidFill>
                  <a:srgbClr val="B18C3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你要找的 nonce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956816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SHA-256 結果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322576"/>
            <a:ext cx="3108960" cy="731520"/>
          </a:xfrm>
          <a:prstGeom prst="roundRect">
            <a:avLst/>
          </a:prstGeom>
          <a:solidFill>
            <a:srgbClr val="EBECE7"/>
          </a:solidFill>
          <a:ln w="19050">
            <a:solidFill>
              <a:srgbClr val="5F7D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轉帳給小華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23744"/>
            <a:ext cx="365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322576"/>
            <a:ext cx="2194560" cy="731520"/>
          </a:xfrm>
          <a:prstGeom prst="roundRect">
            <a:avLst/>
          </a:prstGeom>
          <a:solidFill>
            <a:srgbClr val="B18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nonce_a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23760" y="2505456"/>
            <a:ext cx="411480" cy="365760"/>
          </a:xfrm>
          <a:prstGeom prst="rightArrow">
            <a:avLst/>
          </a:prstGeom>
          <a:solidFill>
            <a:srgbClr val="006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772400" y="2322576"/>
            <a:ext cx="1783080" cy="731520"/>
          </a:xfrm>
          <a:prstGeom prst="roundRect">
            <a:avLst/>
          </a:prstGeom>
          <a:solidFill>
            <a:srgbClr val="5F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429a8698aa53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55480" y="2322576"/>
            <a:ext cx="1417320" cy="731520"/>
          </a:xfrm>
          <a:prstGeom prst="roundRect">
            <a:avLst/>
          </a:prstGeom>
          <a:solidFill>
            <a:srgbClr val="EBECE7"/>
          </a:solidFill>
          <a:ln w="19050">
            <a:solidFill>
              <a:srgbClr val="5F7D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6775ad1d…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328416"/>
            <a:ext cx="3108960" cy="731520"/>
          </a:xfrm>
          <a:prstGeom prst="roundRect">
            <a:avLst/>
          </a:prstGeom>
          <a:solidFill>
            <a:srgbClr val="EBECE7"/>
          </a:solidFill>
          <a:ln w="19050">
            <a:solidFill>
              <a:srgbClr val="5F7D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轉帳給小華 $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529584"/>
            <a:ext cx="36576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3328416"/>
            <a:ext cx="2194560" cy="731520"/>
          </a:xfrm>
          <a:prstGeom prst="roundRect">
            <a:avLst/>
          </a:prstGeom>
          <a:solidFill>
            <a:srgbClr val="B18C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nonce_b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23760" y="3511296"/>
            <a:ext cx="411480" cy="365760"/>
          </a:xfrm>
          <a:prstGeom prst="rightArrow">
            <a:avLst/>
          </a:prstGeom>
          <a:solidFill>
            <a:srgbClr val="006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772400" y="3328416"/>
            <a:ext cx="1783080" cy="731520"/>
          </a:xfrm>
          <a:prstGeom prst="roundRect">
            <a:avLst/>
          </a:prstGeom>
          <a:solidFill>
            <a:srgbClr val="5F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429a8698aa53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55480" y="3328416"/>
            <a:ext cx="1417320" cy="731520"/>
          </a:xfrm>
          <a:prstGeom prst="roundRect">
            <a:avLst/>
          </a:prstGeom>
          <a:solidFill>
            <a:srgbClr val="EBECE7"/>
          </a:solidFill>
          <a:ln w="19050">
            <a:solidFill>
              <a:srgbClr val="5F7D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>
                <a:solidFill>
                  <a:srgbClr val="333333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757e2b88…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4151376"/>
            <a:ext cx="1783080" cy="64008"/>
          </a:xfrm>
          <a:prstGeom prst="rect">
            <a:avLst/>
          </a:prstGeom>
          <a:solidFill>
            <a:srgbClr val="FBA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0" y="4288536"/>
            <a:ext cx="320040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>
                <a:solidFill>
                  <a:srgbClr val="B18C39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共同前綴 51 bits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4928616"/>
            <a:ext cx="9738360" cy="685800"/>
          </a:xfrm>
          <a:prstGeom prst="roundRect">
            <a:avLst/>
          </a:prstGeom>
          <a:solidFill>
            <a:srgbClr val="006E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dirty="0" err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相同的</a:t>
            </a:r>
            <a:r>
              <a:rPr dirty="0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bits </a:t>
            </a:r>
            <a:r>
              <a:rPr dirty="0" err="1">
                <a:solidFill>
                  <a:srgbClr val="FFFFFF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越多分數越高</a:t>
            </a:r>
            <a:endParaRPr dirty="0">
              <a:solidFill>
                <a:srgbClr val="FFFFFF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34440" y="5751576"/>
            <a:ext cx="973836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b="0" dirty="0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※ </a:t>
            </a:r>
            <a:r>
              <a:rPr b="0" dirty="0" err="1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本題的</a:t>
            </a:r>
            <a:r>
              <a:rPr b="0" dirty="0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nonce </a:t>
            </a:r>
            <a:r>
              <a:rPr b="0" dirty="0" err="1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是</a:t>
            </a:r>
            <a:r>
              <a:rPr b="0" dirty="0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64-bit </a:t>
            </a:r>
            <a:r>
              <a:rPr b="0" dirty="0" err="1">
                <a:solidFill>
                  <a:srgbClr val="5F7D75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整數，不必是有意義的文字</a:t>
            </a:r>
            <a:endParaRPr b="0" dirty="0">
              <a:solidFill>
                <a:srgbClr val="5F7D75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9467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9660EF6-B609-BB55-7831-F395007322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13576" y="524257"/>
            <a:ext cx="9695712" cy="5968618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Wingdings" pitchFamily="2" charset="2"/>
              <a:buChar char="n"/>
            </a:pPr>
            <a:r>
              <a:rPr kumimoji="1" lang="zh-TW" altLang="en-US" b="1" dirty="0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檔案內容</a:t>
            </a: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altLang="zh-TW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collision.cu</a:t>
            </a:r>
            <a:endParaRPr lang="en-US" altLang="zh-TW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altLang="zh-TW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README.md</a:t>
            </a:r>
            <a:endParaRPr lang="en-US" altLang="zh-TW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altLang="zh-TW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verify_collision.py</a:t>
            </a:r>
            <a:endParaRPr lang="en-US" altLang="zh-TW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altLang="zh-TW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Makefile</a:t>
            </a:r>
            <a:endParaRPr lang="en-US" altLang="zh-TW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Font typeface="Wingdings" pitchFamily="2" charset="2"/>
              <a:buChar char="n"/>
            </a:pPr>
            <a:r>
              <a:rPr kumimoji="1" lang="zh-TW" altLang="en-US" b="1" dirty="0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執行方式</a:t>
            </a: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TW" altLang="en-US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編譯</a:t>
            </a:r>
            <a:r>
              <a:rPr lang="en-US" altLang="zh-TW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</a:t>
            </a:r>
            <a:r>
              <a:rPr lang="zh-TW" altLang="en-US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TW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make</a:t>
            </a: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TW" altLang="en-US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執行</a:t>
            </a:r>
            <a:r>
              <a:rPr lang="en-US" altLang="zh-TW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</a:t>
            </a:r>
            <a:r>
              <a:rPr lang="zh-TW" altLang="en-US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TW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./collision &lt;prefix&gt; &lt;</a:t>
            </a:r>
            <a:r>
              <a:rPr lang="zh-TW" altLang="en-US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掃描的 </a:t>
            </a:r>
            <a:r>
              <a:rPr lang="en-US" altLang="zh-TW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nonce </a:t>
            </a:r>
            <a:r>
              <a:rPr lang="zh-TW" altLang="en-US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數量</a:t>
            </a:r>
            <a:r>
              <a:rPr lang="en-US" altLang="zh-TW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&gt;</a:t>
            </a: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TW" altLang="en-US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範例：</a:t>
            </a:r>
            <a:r>
              <a:rPr lang="en-US" altLang="zh-TW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./collision </a:t>
            </a:r>
            <a:r>
              <a:rPr lang="en-US" altLang="zh-TW" sz="2500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hipac_demo</a:t>
            </a:r>
            <a:r>
              <a:rPr lang="en-US" altLang="zh-TW" sz="250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20000000</a:t>
            </a:r>
            <a:endParaRPr lang="en-US" altLang="zh-TW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buFont typeface="Wingdings" pitchFamily="2" charset="2"/>
              <a:buChar char="n"/>
            </a:pPr>
            <a:r>
              <a:rPr kumimoji="1" lang="zh-TW" altLang="en-US" b="1" dirty="0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結果繳交方式</a:t>
            </a: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altLang="zh-TW" b="0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輸出 solution_&lt;bits&gt;.csv</a:t>
            </a:r>
            <a:endParaRPr lang="en-US" altLang="zh-TW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altLang="zh-TW" b="0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欄位：prefix,nonce_a,nonce_b,match_bits</a:t>
            </a:r>
            <a:endParaRPr lang="en-US" altLang="zh-TW" b="0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00150" lvl="1" indent="-51435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TW" altLang="en-US" b="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驗證</a:t>
            </a:r>
            <a:r>
              <a:rPr lang="en-US" altLang="zh-TW" b="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:</a:t>
            </a:r>
            <a:r>
              <a:rPr lang="zh-TW" altLang="en-US" b="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TW" b="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python3 </a:t>
            </a:r>
            <a:r>
              <a:rPr lang="en-US" altLang="zh-TW" b="0" dirty="0" err="1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verify_collision.py</a:t>
            </a:r>
            <a:r>
              <a:rPr lang="en-US" altLang="zh-TW" b="0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--</a:t>
            </a:r>
            <a:r>
              <a:rPr lang="en-US" altLang="zh-TW" dirty="0">
                <a:solidFill>
                  <a:prstClr val="black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file solution_&lt;bits&gt;.csv</a:t>
            </a:r>
            <a:endParaRPr lang="en-US" altLang="zh-TW" b="0" dirty="0">
              <a:solidFill>
                <a:prstClr val="black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9946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9444B6D-705B-4C0A-9C7C-D5631416E7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33024" y="705660"/>
            <a:ext cx="10125949" cy="2233943"/>
          </a:xfrm>
        </p:spPr>
        <p:txBody>
          <a:bodyPr/>
          <a:lstStyle/>
          <a:p>
            <a:pPr marL="342900" indent="-342900">
              <a:lnSpc>
                <a:spcPct val="80000"/>
              </a:lnSpc>
              <a:buFont typeface="Wingdings" pitchFamily="2" charset="2"/>
              <a:buChar char="n"/>
            </a:pPr>
            <a:r>
              <a:rPr kumimoji="1" lang="zh-TW" altLang="en-US" b="1" dirty="0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評分方式</a:t>
            </a:r>
            <a:endParaRPr lang="en-US" altLang="zh-TW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TW" b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Base Score：共同前綴達 58 bits 以上得基礎分 4 分，否則 0 分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b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Ranking Score：依 bits 排名，第一名 +6 分遞減至 0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b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若 bits 相同，以提交時間較早者勝出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B64E7F5-506E-0C97-9CDD-A7B11FDCD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305055"/>
              </p:ext>
            </p:extLst>
          </p:nvPr>
        </p:nvGraphicFramePr>
        <p:xfrm>
          <a:off x="1435360" y="2851378"/>
          <a:ext cx="8869680" cy="3300962"/>
        </p:xfrm>
        <a:graphic>
          <a:graphicData uri="http://schemas.openxmlformats.org/drawingml/2006/table">
            <a:tbl>
              <a:tblPr firstRow="1" bandRow="1">
                <a:tableStyleId>{2A488322-F2BA-4B5B-9748-0D474271808F}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7904925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51771667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318981323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330819359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881770795"/>
                    </a:ext>
                  </a:extLst>
                </a:gridCol>
              </a:tblGrid>
              <a:tr h="7175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b="1" dirty="0">
                          <a:effectLst/>
                        </a:rPr>
                        <a:t>排名</a:t>
                      </a:r>
                      <a:endParaRPr lang="zh-TW" altLang="en-US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>
                    <a:solidFill>
                      <a:srgbClr val="5F7D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sz="1800" b="1" dirty="0">
                          <a:effectLst/>
                        </a:rPr>
                        <a:t>隊伍名稱</a:t>
                      </a:r>
                      <a:endParaRPr lang="zh-TW" altLang="en-US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>
                    <a:solidFill>
                      <a:srgbClr val="5F7D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1" dirty="0">
                          <a:effectLst/>
                        </a:rPr>
                        <a:t>共同前綴 bits</a:t>
                      </a:r>
                      <a:endParaRPr lang="en-US" altLang="zh-TW" sz="2400" b="0" dirty="0">
                        <a:effectLst/>
                      </a:endParaRPr>
                    </a:p>
                  </a:txBody>
                  <a:tcPr marL="106169" marR="106169" marT="53085" marB="53085" anchor="ctr">
                    <a:solidFill>
                      <a:srgbClr val="5F7D7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effectLst/>
                        </a:rPr>
                        <a:t>提交時間</a:t>
                      </a:r>
                      <a:endParaRPr lang="zh-TW" altLang="en-US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>
                    <a:solidFill>
                      <a:srgbClr val="5F7D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1800" b="1" dirty="0">
                          <a:effectLst/>
                        </a:rPr>
                        <a:t>分數 &amp; 說明</a:t>
                      </a:r>
                      <a:endParaRPr lang="zh-TW" altLang="en-US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>
                    <a:solidFill>
                      <a:srgbClr val="5F7D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592887"/>
                  </a:ext>
                </a:extLst>
              </a:tr>
              <a:tr h="430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>
                          <a:effectLst/>
                        </a:rPr>
                        <a:t>1</a:t>
                      </a:r>
                      <a:endParaRPr lang="en-US" altLang="zh-TW" sz="2400" b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effectLst/>
                        </a:rPr>
                        <a:t>Team A</a:t>
                      </a:r>
                      <a:endParaRPr lang="pt-BR" sz="2400" b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72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14:05:01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10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extLst>
                  <a:ext uri="{0D108BD9-81ED-4DB2-BD59-A6C34878D82A}">
                    <a16:rowId xmlns:a16="http://schemas.microsoft.com/office/drawing/2014/main" val="1619850547"/>
                  </a:ext>
                </a:extLst>
              </a:tr>
              <a:tr h="430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>
                          <a:effectLst/>
                        </a:rPr>
                        <a:t>2</a:t>
                      </a:r>
                      <a:endParaRPr lang="en-US" altLang="zh-TW" sz="2400" b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effectLst/>
                        </a:rPr>
                        <a:t>Team C</a:t>
                      </a:r>
                      <a:endParaRPr lang="pt-BR" sz="2400" b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68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14:02:30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9 (提交較早，但 bits 較少)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extLst>
                  <a:ext uri="{0D108BD9-81ED-4DB2-BD59-A6C34878D82A}">
                    <a16:rowId xmlns:a16="http://schemas.microsoft.com/office/drawing/2014/main" val="3676721152"/>
                  </a:ext>
                </a:extLst>
              </a:tr>
              <a:tr h="430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>
                          <a:effectLst/>
                        </a:rPr>
                        <a:t>3</a:t>
                      </a:r>
                      <a:endParaRPr lang="en-US" altLang="zh-TW" sz="2400" b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effectLst/>
                        </a:rPr>
                        <a:t>Team B</a:t>
                      </a:r>
                      <a:endParaRPr lang="pt-BR" sz="2400" b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65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14:12:15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8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extLst>
                  <a:ext uri="{0D108BD9-81ED-4DB2-BD59-A6C34878D82A}">
                    <a16:rowId xmlns:a16="http://schemas.microsoft.com/office/drawing/2014/main" val="3496763178"/>
                  </a:ext>
                </a:extLst>
              </a:tr>
              <a:tr h="430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>
                          <a:effectLst/>
                        </a:rPr>
                        <a:t>4</a:t>
                      </a:r>
                      <a:endParaRPr lang="en-US" altLang="zh-TW" sz="2400" b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>
                          <a:effectLst/>
                        </a:rPr>
                        <a:t>Team D</a:t>
                      </a:r>
                      <a:endParaRPr lang="pt-BR" sz="2400" b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65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14:20:40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7 (bits 相同但提交較晚)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extLst>
                  <a:ext uri="{0D108BD9-81ED-4DB2-BD59-A6C34878D82A}">
                    <a16:rowId xmlns:a16="http://schemas.microsoft.com/office/drawing/2014/main" val="2778561780"/>
                  </a:ext>
                </a:extLst>
              </a:tr>
              <a:tr h="430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5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effectLst/>
                        </a:rPr>
                        <a:t>Team E</a:t>
                      </a:r>
                      <a:endParaRPr lang="pt-BR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58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14:13:45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4 (剛達基本門檻)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extLst>
                  <a:ext uri="{0D108BD9-81ED-4DB2-BD59-A6C34878D82A}">
                    <a16:rowId xmlns:a16="http://schemas.microsoft.com/office/drawing/2014/main" val="2967342164"/>
                  </a:ext>
                </a:extLst>
              </a:tr>
              <a:tr h="4305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6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800" b="0" dirty="0">
                          <a:effectLst/>
                        </a:rPr>
                        <a:t>Team F</a:t>
                      </a:r>
                      <a:endParaRPr lang="pt-BR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55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14:10:00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TW" sz="1800" b="0" dirty="0">
                          <a:effectLst/>
                        </a:rPr>
                        <a:t>0 (未達門檻)</a:t>
                      </a:r>
                      <a:endParaRPr lang="en-US" altLang="zh-TW" sz="2400" b="0" dirty="0">
                        <a:effectLst/>
                        <a:latin typeface="Microsoft YaHei UI" panose="020B0503020204020204" pitchFamily="34" charset="-122"/>
                        <a:ea typeface="Microsoft YaHei UI" panose="020B0503020204020204" pitchFamily="34" charset="-122"/>
                      </a:endParaRPr>
                    </a:p>
                  </a:txBody>
                  <a:tcPr marL="106169" marR="106169" marT="53085" marB="53085" anchor="ctr"/>
                </a:tc>
                <a:extLst>
                  <a:ext uri="{0D108BD9-81ED-4DB2-BD59-A6C34878D82A}">
                    <a16:rowId xmlns:a16="http://schemas.microsoft.com/office/drawing/2014/main" val="602425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330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3378790E-57A2-6A5D-66F9-15DBCD2F1A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zh-TW" altLang="en-US" dirty="0"/>
              <a:t>公布題目</a:t>
            </a:r>
          </a:p>
        </p:txBody>
      </p:sp>
      <p:sp>
        <p:nvSpPr>
          <p:cNvPr id="5" name="文字版面配置區 3">
            <a:extLst>
              <a:ext uri="{FF2B5EF4-FFF2-40B4-BE49-F238E27FC236}">
                <a16:creationId xmlns:a16="http://schemas.microsoft.com/office/drawing/2014/main" id="{CE5128E3-8EF5-E7AB-30CB-9A907CCA6C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13576" y="1192213"/>
            <a:ext cx="9695712" cy="5300661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TW" sz="4000" b="1" dirty="0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prefix</a:t>
            </a:r>
            <a:br>
              <a:rPr kumimoji="1" lang="en-US" altLang="zh-TW" sz="4000" b="1" dirty="0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endParaRPr kumimoji="1" lang="en-US" altLang="zh-TW" sz="4000" b="1" dirty="0">
              <a:solidFill>
                <a:srgbClr val="006E9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endParaRPr kumimoji="1" lang="en-US" altLang="zh-TW" sz="4000" b="1" dirty="0">
              <a:solidFill>
                <a:srgbClr val="006E9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algn="ctr"/>
            <a:r>
              <a:rPr kumimoji="1" lang="en-US" altLang="zh-TW" sz="4000" b="1" dirty="0">
                <a:solidFill>
                  <a:srgbClr val="006E9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HiPAC2026crypto</a:t>
            </a:r>
          </a:p>
        </p:txBody>
      </p:sp>
    </p:spTree>
    <p:extLst>
      <p:ext uri="{BB962C8B-B14F-4D97-AF65-F5344CB8AC3E}">
        <p14:creationId xmlns:p14="http://schemas.microsoft.com/office/powerpoint/2010/main" val="335671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797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2400</TotalTime>
  <Words>269</Words>
  <Application>Microsoft Macintosh PowerPoint</Application>
  <PresentationFormat>寬螢幕</PresentationFormat>
  <Paragraphs>87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微軟正黑體</vt:lpstr>
      <vt:lpstr>Microsoft YaHei UI</vt:lpstr>
      <vt:lpstr>Arial</vt:lpstr>
      <vt:lpstr>Calibri</vt:lpstr>
      <vt:lpstr>Calibri Light</vt:lpstr>
      <vt:lpstr>Wingdings</vt:lpstr>
      <vt:lpstr>Office 佈景主題</vt:lpstr>
      <vt:lpstr>1_Office 佈景主題</vt:lpstr>
      <vt:lpstr>2026HiPAC   〔 試題說明 〕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陳肅方</dc:creator>
  <cp:keywords>SC2023</cp:keywords>
  <cp:lastModifiedBy>洪嘉賢</cp:lastModifiedBy>
  <cp:revision>80</cp:revision>
  <dcterms:created xsi:type="dcterms:W3CDTF">2023-10-24T02:46:10Z</dcterms:created>
  <dcterms:modified xsi:type="dcterms:W3CDTF">2026-08-06T00:11:39Z</dcterms:modified>
</cp:coreProperties>
</file>